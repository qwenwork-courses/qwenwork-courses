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7" r:id="rId5"/>
    <p:sldId id="278" r:id="rId6"/>
    <p:sldId id="258" r:id="rId7"/>
    <p:sldId id="259" r:id="rId8"/>
    <p:sldId id="260" r:id="rId9"/>
    <p:sldId id="261" r:id="rId10"/>
    <p:sldId id="279" r:id="rId11"/>
    <p:sldId id="282" r:id="rId12"/>
    <p:sldId id="266" r:id="rId13"/>
    <p:sldId id="274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43"/>
  </p:normalViewPr>
  <p:slideViewPr>
    <p:cSldViewPr snapToGrid="0" snapToObjects="1" showGuides="1">
      <p:cViewPr varScale="1">
        <p:scale>
          <a:sx n="153" d="100"/>
          <a:sy n="153" d="100"/>
        </p:scale>
        <p:origin x="816" y="176"/>
      </p:cViewPr>
      <p:guideLst>
        <p:guide orient="horz" pos="2160"/>
        <p:guide pos="289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【封面页】课程或模块封面。</a:t>
            </a:r>
          </a:p>
          <a:p>
            <a:r>
              <a:t>背景满版图 0,0,10,5.625；标题块 1.04,2.72,7.92,1.20。</a:t>
            </a:r>
          </a:p>
          <a:p>
            <a:r>
              <a:t>主标题 sz38 粗 142B3A，超 15 字必须手动断成两行，不要靠自动换行；副标题 sz17 5B6B63，写「模块序号 · 副标题」。</a:t>
            </a:r>
          </a:p>
          <a:p>
            <a:r>
              <a:t>封面不加左绿条；logo 走 8.09,0.19,1.59,0.42（比内容页略大一点）。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A88789-67D3-524D-9FD2-65AF256CE3D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【课程路径导图页】系列课路径或三到四段流程推进。</a:t>
            </a:r>
          </a:p>
          <a:p>
            <a:r>
              <a:t>节点圆角矩形 W2.14 H0.92 fill 2FB863，白字 sz20 粗；箭头 W0.63 H0.40 fill 2FB863；节点中心线 T≈2.36，节点起点 0.73 / 3.86 / 7.12。</a:t>
            </a:r>
          </a:p>
          <a:p>
            <a:r>
              <a:t>节点最多四个，段数更多改用「时间线页」。右下角可放千仔（1.39×1.39）。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【两栏对照页】常见误解 vs 实际情况、失败案例 vs 成功案例。</a:t>
            </a:r>
          </a:p>
          <a:p>
            <a:r>
              <a:t>上排两卡 L0.55 / 5.15，W4.30 H1.26：左卡 F3F6F4 灰底＝反例（竖条 0.13 宽），右卡 E8F7EE 浅绿＋2FB863 竖条＝正例；卡内小标题 sz14 粗、正文 sz12。</a:t>
            </a:r>
          </a:p>
          <a:p>
            <a:r>
              <a:t>下排四张小卡 W2.10 H0.99（0.55 / 2.81 / 5.07 / 7.33），最后一张 fill 2FB863 白字表示结论项，做「A ＋ B ＋ C ＝ 结果」的公式感。</a:t>
            </a:r>
          </a:p>
          <a:p>
            <a:r>
              <a:t>中间引导句 sz14 粗 142B3A（T3.53）。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【三卡并列页】两到三条并行路径或做法。</a:t>
            </a:r>
          </a:p>
          <a:p>
            <a:r>
              <a:t>引导句 sz14 粗 142B3A（T2.02）；两张大卡 L0.55 / 5.15，W4.30 H1.95。</a:t>
            </a:r>
          </a:p>
          <a:p>
            <a:r>
              <a:t>卡内层次：标题 sz14.5 粗 1B7A41 → 短下划线 0.85×0.06 → 要点 sz12 粗 142B3A → 正文 sz12 1C2A22。</a:t>
            </a:r>
          </a:p>
          <a:p>
            <a:r>
              <a:t>底部结论条 0.55,4.72,8.55,0.55 fill E8F7EE，文字 sz14 粗 1B7A41；右下角挂小千仔（0.68×0.68）。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【能力卡网格页】四到五类产物、能力或模块并列。</a:t>
            </a:r>
          </a:p>
          <a:p>
            <a:r>
              <a:t>卡 W2.14 H2.05，起点 0.55 / 2.93 / 5.31 / 7.69（间距 2.38）；卡头 fill 2FB863 白字 sz15（放英文或短标签），卡身白底，中文名 sz15 粗 1C2A22，说明 sz11.5 5B6B63。</a:t>
            </a:r>
          </a:p>
          <a:p>
            <a:r>
              <a:t>底部结论条 0.55,4.62,8.55,0.55 fill E8F7EE，文字 sz13.5 粗 1B7A41。</a:t>
            </a:r>
          </a:p>
          <a:p>
            <a:r>
              <a:t>超过五项就拆两页，别压缩卡宽。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【流程模型页】三步法 / 三板斧模型总览。</a:t>
            </a:r>
          </a:p>
          <a:p>
            <a:r>
              <a:t>圆 Ø1.10 三色（2FB863 / 142B3A / F28C3B），圆内大字 sz36 粗白；步骤名 sz16 粗 142B3A（T3.52）；注解 sz12 5B6B63 两行（T3.90）。</a:t>
            </a:r>
          </a:p>
          <a:p>
            <a:r>
              <a:t>圆心 x = 1.40 / 4.45 / 7.50，箭头 sz24 粗 2FB863 放 3.23 / 6.28（T2.62）。</a:t>
            </a:r>
          </a:p>
          <a:p>
            <a:r>
              <a:t>右下角可挂一张 E8F7EE 小注卡（W2.20 H0.66，文字 sz10.5 1B7A41）。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【结尾页】模块结束页。</a:t>
            </a:r>
          </a:p>
          <a:p>
            <a:r>
              <a:t>复用封面背景与版心：结束语 sz38 粗 142B3A（1.04,2.72,7.92,1.20），下面写「课程名 · 模块名」sz17 5B6B63。</a:t>
            </a:r>
          </a:p>
          <a:p>
            <a:r>
              <a:t>全系列统一用这页收尾，文案保持一致。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5.png"/><Relationship Id="rId6" Type="http://schemas.openxmlformats.org/officeDocument/2006/relationships/image" Target="../media/image2.png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173736"/>
            <a:ext cx="1453896" cy="38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0976" y="2487168"/>
            <a:ext cx="7242048" cy="10956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 dirty="0" err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技能与专家套件</a:t>
            </a:r>
            <a:endParaRPr sz="3800" b="1" dirty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/>
          <p:cNvSpPr/>
          <p:nvPr/>
        </p:nvSpPr>
        <p:spPr>
          <a:xfrm>
            <a:off x="502920" y="3840480"/>
            <a:ext cx="6035040" cy="621792"/>
          </a:xfrm>
          <a:prstGeom prst="roundRect">
            <a:avLst>
              <a:gd name="adj" fmla="val 22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8475" y="3114040"/>
            <a:ext cx="6035040" cy="621792"/>
          </a:xfrm>
          <a:prstGeom prst="roundRect">
            <a:avLst>
              <a:gd name="adj" fmla="val 22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wenwork_logo_c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7200"/>
            <a:ext cx="365760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26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</a:rPr>
              <a:t>目　录</a:t>
            </a:r>
            <a:endParaRPr sz="26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36576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200" b="1">
                <a:solidFill>
                  <a:srgbClr val="2FB863"/>
                </a:solidFill>
                <a:latin typeface="PingFang SC" panose="020B0400000000000000" charset="-122"/>
                <a:ea typeface="PingFang SC" panose="020B0400000000000000" charset="-122"/>
              </a:rPr>
              <a:t>CONTENTS</a:t>
            </a:r>
            <a:endParaRPr sz="1200" b="1">
              <a:solidFill>
                <a:srgbClr val="2FB863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6035040" cy="621792"/>
          </a:xfrm>
          <a:prstGeom prst="roundRect">
            <a:avLst>
              <a:gd name="adj" fmla="val 22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100584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</a:rPr>
              <a:t>第一讲</a:t>
            </a:r>
            <a:endParaRPr sz="140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37360" y="1783080"/>
            <a:ext cx="18288" cy="347472"/>
          </a:xfrm>
          <a:prstGeom prst="rect">
            <a:avLst/>
          </a:prstGeom>
          <a:solidFill>
            <a:srgbClr val="1B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20240" y="1645920"/>
            <a:ext cx="4572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1500" b="0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</a:rPr>
              <a:t>读懂 AI 工作平台：智能体本质</a:t>
            </a:r>
            <a:endParaRPr sz="1500" b="0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2377440"/>
            <a:ext cx="6035040" cy="621792"/>
          </a:xfrm>
          <a:prstGeom prst="roundRect">
            <a:avLst>
              <a:gd name="adj" fmla="val 22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100584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>
              <a:buClrTx/>
              <a:buSzTx/>
              <a:buFontTx/>
            </a:pPr>
            <a:r>
              <a:rPr sz="140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</a:rPr>
              <a:t>第二讲</a:t>
            </a:r>
            <a:endParaRPr sz="140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37360" y="2514600"/>
            <a:ext cx="18288" cy="347472"/>
          </a:xfrm>
          <a:prstGeom prst="rect">
            <a:avLst/>
          </a:prstGeom>
          <a:solidFill>
            <a:srgbClr val="1B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2377440"/>
            <a:ext cx="457200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>
              <a:buClrTx/>
              <a:buSzTx/>
              <a:buFontTx/>
            </a:pPr>
            <a:r>
              <a:rPr sz="1500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</a:rPr>
              <a:t>千问办公是什么：企业级平台价值</a:t>
            </a:r>
            <a:endParaRPr sz="1500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06440" y="3840480"/>
            <a:ext cx="64008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1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本讲</a:t>
            </a:r>
            <a:endParaRPr sz="11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3108960"/>
            <a:ext cx="100584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</a:rPr>
              <a:t>第三讲</a:t>
            </a:r>
            <a:endParaRPr sz="140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737360" y="3246120"/>
            <a:ext cx="18288" cy="347472"/>
          </a:xfrm>
          <a:prstGeom prst="rect">
            <a:avLst/>
          </a:prstGeom>
          <a:solidFill>
            <a:srgbClr val="1B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3108960"/>
            <a:ext cx="3831590" cy="6216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150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</a:rPr>
              <a:t>千问办公能做什么：五大真实场景</a:t>
            </a:r>
            <a:endParaRPr sz="1500">
              <a:solidFill>
                <a:schemeClr val="tx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840480"/>
            <a:ext cx="1005840" cy="6217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chemeClr val="bg1"/>
                </a:solidFill>
                <a:latin typeface="PingFang SC" panose="020B0400000000000000" charset="-122"/>
                <a:ea typeface="PingFang SC" panose="020B0400000000000000" charset="-122"/>
              </a:rPr>
              <a:t>第四讲</a:t>
            </a:r>
            <a:endParaRPr sz="1400" b="1">
              <a:solidFill>
                <a:schemeClr val="bg1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737360" y="3977640"/>
            <a:ext cx="18288" cy="34747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20240" y="3840480"/>
            <a:ext cx="3737610" cy="6216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1500" b="1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千问办公的灵魂：Skill技能</a:t>
            </a:r>
            <a:r>
              <a:rPr lang="zh-CN" sz="1500" b="1">
                <a:solidFill>
                  <a:schemeClr val="bg1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与专家套件</a:t>
            </a:r>
            <a:endParaRPr lang="zh-CN" sz="1500" b="1">
              <a:solidFill>
                <a:schemeClr val="bg1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903720" y="2148840"/>
            <a:ext cx="2011680" cy="2011680"/>
            <a:chOff x="10872" y="3384"/>
            <a:chExt cx="3168" cy="3168"/>
          </a:xfrm>
        </p:grpSpPr>
        <p:sp>
          <p:nvSpPr>
            <p:cNvPr id="26" name="Oval 25"/>
            <p:cNvSpPr/>
            <p:nvPr/>
          </p:nvSpPr>
          <p:spPr>
            <a:xfrm>
              <a:off x="10872" y="3384"/>
              <a:ext cx="3168" cy="3168"/>
            </a:xfrm>
            <a:prstGeom prst="ellipse">
              <a:avLst/>
            </a:prstGeom>
            <a:solidFill>
              <a:srgbClr val="E8F7E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7" name="Picture 26" descr="qianzai_3d_transparent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44" y="3528"/>
              <a:ext cx="2952" cy="29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55898" y="2491163"/>
            <a:ext cx="6549505" cy="152209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342900" indent="-342900" algn="l" defTabSz="266700">
              <a:lnSpc>
                <a:spcPct val="155000"/>
              </a:lnSpc>
              <a:buFont typeface="Arial" panose="020B0604020202090204" pitchFamily="34" charset="0"/>
              <a:buChar char="•"/>
            </a:pP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是千问办公的标准化操作手册，是让</a:t>
            </a: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</a:t>
            </a: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随机发挥</a:t>
            </a: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变成</a:t>
            </a: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“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稳定可控</a:t>
            </a: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”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的核心机制；</a:t>
            </a:r>
            <a:endParaRPr lang="zh-CN" altLang="en-US" sz="2000" b="1" i="0" dirty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marL="342900" indent="-342900" algn="l" defTabSz="266700">
              <a:lnSpc>
                <a:spcPct val="155000"/>
              </a:lnSpc>
              <a:buFont typeface="Arial" panose="020B0604020202090204" pitchFamily="34" charset="0"/>
              <a:buChar char="•"/>
            </a:pP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掌握</a:t>
            </a:r>
            <a:r>
              <a:rPr lang="en-US" altLang="zh-CN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</a:t>
            </a:r>
            <a:r>
              <a:rPr lang="zh-CN" altLang="en-US" sz="2000" b="1" i="0" dirty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，就掌握了驾驭千问办公的关键。</a:t>
            </a:r>
            <a:endParaRPr lang="zh-CN" altLang="en-US" sz="2000" b="1" i="0" dirty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2920" y="438912"/>
            <a:ext cx="6903720" cy="393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2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为什么需要 Skill</a:t>
            </a:r>
            <a:endParaRPr lang="zh-CN" altLang="en-US" sz="2400" b="1">
              <a:latin typeface="阿里巴巴普惠体 3.0 105 Heavy" panose="00020600040101010101" pitchFamily="18" charset="-122"/>
              <a:ea typeface="阿里巴巴普惠体 3.0 105 Heavy" panose="00020600040101010101" pitchFamily="18" charset="-122"/>
              <a:cs typeface="阿里巴巴普惠体 3.0 105 Heavy" panose="00020600040101010101" pitchFamily="18" charset="-122"/>
            </a:endParaRPr>
          </a:p>
        </p:txBody>
      </p:sp>
      <p:sp>
        <p:nvSpPr>
          <p:cNvPr id="3" name="圆角矩形 2"/>
          <p:cNvSpPr/>
          <p:nvPr>
            <p:custDataLst>
              <p:tags r:id="rId1"/>
            </p:custDataLst>
          </p:nvPr>
        </p:nvSpPr>
        <p:spPr>
          <a:xfrm>
            <a:off x="664210" y="2159635"/>
            <a:ext cx="1958975" cy="839470"/>
          </a:xfrm>
          <a:prstGeom prst="roundRect">
            <a:avLst/>
          </a:prstGeom>
          <a:solidFill>
            <a:srgbClr val="2FB86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降低随机性</a:t>
            </a:r>
            <a:endParaRPr lang="zh-CN" altLang="en-US" sz="2000" b="1" dirty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3528695" y="2159635"/>
            <a:ext cx="1958975" cy="839470"/>
          </a:xfrm>
          <a:prstGeom prst="roundRect">
            <a:avLst/>
          </a:prstGeom>
          <a:solidFill>
            <a:srgbClr val="2FB86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固化实践</a:t>
            </a:r>
            <a:endParaRPr lang="zh-CN" altLang="en-US" sz="2000" b="1" dirty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3"/>
            </p:custDataLst>
          </p:nvPr>
        </p:nvSpPr>
        <p:spPr>
          <a:xfrm>
            <a:off x="6515100" y="2159635"/>
            <a:ext cx="1958975" cy="839470"/>
          </a:xfrm>
          <a:prstGeom prst="roundRect">
            <a:avLst/>
          </a:prstGeom>
          <a:solidFill>
            <a:srgbClr val="2FB86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稳定可控</a:t>
            </a:r>
            <a:endParaRPr lang="zh-CN" altLang="en-US" sz="2000" b="1" dirty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右箭头 9"/>
          <p:cNvSpPr/>
          <p:nvPr>
            <p:custDataLst>
              <p:tags r:id="rId4"/>
            </p:custDataLst>
          </p:nvPr>
        </p:nvSpPr>
        <p:spPr>
          <a:xfrm>
            <a:off x="2753995" y="2380615"/>
            <a:ext cx="575310" cy="363220"/>
          </a:xfrm>
          <a:prstGeom prst="rightArrow">
            <a:avLst/>
          </a:prstGeom>
          <a:solidFill>
            <a:srgbClr val="2FB86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bg1"/>
              </a:solidFill>
              <a:latin typeface="阿里巴巴普惠体 3.0 105 Heavy" panose="00020600040101010101" pitchFamily="18" charset="-122"/>
              <a:ea typeface="阿里巴巴普惠体 3.0 105 Heavy" panose="00020600040101010101" pitchFamily="18" charset="-122"/>
              <a:cs typeface="阿里巴巴普惠体 3.0 105 Heavy" panose="00020600040101010101" pitchFamily="18" charset="-122"/>
            </a:endParaRPr>
          </a:p>
        </p:txBody>
      </p:sp>
      <p:sp>
        <p:nvSpPr>
          <p:cNvPr id="11" name="右箭头 10"/>
          <p:cNvSpPr/>
          <p:nvPr>
            <p:custDataLst>
              <p:tags r:id="rId5"/>
            </p:custDataLst>
          </p:nvPr>
        </p:nvSpPr>
        <p:spPr>
          <a:xfrm>
            <a:off x="5687695" y="2380615"/>
            <a:ext cx="575310" cy="363220"/>
          </a:xfrm>
          <a:prstGeom prst="rightArrow">
            <a:avLst/>
          </a:prstGeom>
          <a:solidFill>
            <a:srgbClr val="2FB86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>
              <a:solidFill>
                <a:schemeClr val="bg1"/>
              </a:solidFill>
              <a:latin typeface="阿里巴巴普惠体 3.0 105 Heavy" panose="00020600040101010101" pitchFamily="18" charset="-122"/>
              <a:ea typeface="阿里巴巴普惠体 3.0 105 Heavy" panose="00020600040101010101" pitchFamily="18" charset="-122"/>
              <a:cs typeface="阿里巴巴普惠体 3.0 105 Heavy" panose="00020600040101010101" pitchFamily="18" charset="-122"/>
            </a:endParaRPr>
          </a:p>
        </p:txBody>
      </p:sp>
      <p:pic>
        <p:nvPicPr>
          <p:cNvPr id="7" name="图片 6" descr="QwenWork_Logo_C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79" y="274320"/>
            <a:ext cx="1325880" cy="34747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1900" y="3684905"/>
            <a:ext cx="1267460" cy="12674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7" y="1298448"/>
            <a:ext cx="960120" cy="54864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1444752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大模型天生带随机性，Skill 解决四个核心问题</a:t>
            </a:r>
            <a:endParaRPr sz="12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"/>
            <a:ext cx="6903720" cy="3905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的三大特征</a:t>
            </a:r>
            <a:endParaRPr sz="22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960120" cy="54864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21207" y="1444752"/>
            <a:ext cx="804672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可控、可复现、可优化——下限有保障，上限靠积累</a:t>
            </a:r>
            <a:endParaRPr sz="140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847215"/>
            <a:ext cx="3931920" cy="1151255"/>
          </a:xfrm>
          <a:prstGeom prst="roundRect">
            <a:avLst>
              <a:gd name="adj" fmla="val 9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502920" y="1865630"/>
            <a:ext cx="118745" cy="1115695"/>
          </a:xfrm>
          <a:prstGeom prst="roundRect">
            <a:avLst>
              <a:gd name="adj" fmla="val 47976"/>
            </a:avLst>
          </a:prstGeom>
          <a:solidFill>
            <a:srgbClr val="C4CD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2188" y="1979803"/>
            <a:ext cx="347472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可控</a:t>
            </a:r>
            <a:endParaRPr sz="140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188" y="2308987"/>
            <a:ext cx="3605368" cy="5073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dirty="0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过程由我们建立和控制
可预测、可管理、可迭代</a:t>
            </a:r>
            <a:endParaRPr sz="1200" b="0" dirty="0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09160" y="1847215"/>
            <a:ext cx="3931920" cy="1151255"/>
          </a:xfrm>
          <a:prstGeom prst="roundRect">
            <a:avLst>
              <a:gd name="adj" fmla="val 9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09160" y="1865630"/>
            <a:ext cx="118745" cy="1115695"/>
          </a:xfrm>
          <a:prstGeom prst="roundRect">
            <a:avLst>
              <a:gd name="adj" fmla="val 47976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948428" y="1979803"/>
            <a:ext cx="347472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可复现</a:t>
            </a:r>
            <a:endParaRPr sz="140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48554" y="2308860"/>
            <a:ext cx="3692525" cy="5073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dirty="0" err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不依赖某个人或某个变量
相同环境拿到一致结果</a:t>
            </a:r>
            <a:endParaRPr sz="1200" b="0" dirty="0" err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3232338"/>
            <a:ext cx="81381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两个类比</a:t>
            </a:r>
            <a:endParaRPr sz="14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3618291"/>
            <a:ext cx="1920240" cy="904240"/>
          </a:xfrm>
          <a:prstGeom prst="roundRect">
            <a:avLst>
              <a:gd name="adj" fmla="val 9000"/>
            </a:avLst>
          </a:prstGeom>
          <a:solidFill>
            <a:srgbClr val="F1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698936"/>
            <a:ext cx="1920240" cy="2882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像厨师按食谱</a:t>
            </a:r>
            <a:endParaRPr sz="14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5945" y="4002466"/>
            <a:ext cx="1774190" cy="4743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下限有保障</a:t>
            </a:r>
            <a:endParaRPr sz="1200" b="0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69210" y="3618291"/>
            <a:ext cx="1920240" cy="904240"/>
          </a:xfrm>
          <a:prstGeom prst="roundRect">
            <a:avLst>
              <a:gd name="adj" fmla="val 9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569210" y="3698936"/>
            <a:ext cx="1920240" cy="2882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像新员工手册</a:t>
            </a:r>
            <a:endParaRPr sz="140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42870" y="4002466"/>
            <a:ext cx="1774190" cy="4743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不用师傅带</a:t>
            </a:r>
            <a:endParaRPr sz="1200" b="0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36135" y="3618291"/>
            <a:ext cx="1920240" cy="904240"/>
          </a:xfrm>
          <a:prstGeom prst="roundRect">
            <a:avLst>
              <a:gd name="adj" fmla="val 9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636135" y="3698936"/>
            <a:ext cx="1920240" cy="2882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按章办事</a:t>
            </a:r>
            <a:endParaRPr sz="140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09160" y="4002466"/>
            <a:ext cx="1774190" cy="4743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同类工作直接用</a:t>
            </a:r>
            <a:endParaRPr sz="1200" b="0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702425" y="3618291"/>
            <a:ext cx="1920240" cy="904240"/>
          </a:xfrm>
          <a:prstGeom prst="roundRect">
            <a:avLst>
              <a:gd name="adj" fmla="val 9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702425" y="3698936"/>
            <a:ext cx="1920240" cy="28829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持续优化</a:t>
            </a:r>
            <a:endParaRPr sz="14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75450" y="4002466"/>
            <a:ext cx="1774190" cy="474345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每次比上次好</a:t>
            </a:r>
            <a:endParaRPr sz="1200" b="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over_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"/>
            <a:ext cx="6903720" cy="3905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与 Prompt 的区别</a:t>
            </a:r>
            <a:endParaRPr sz="22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960120" cy="54864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21207" y="1444752"/>
            <a:ext cx="80467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0" dirty="0" err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Prompt 是一次性指令，Skill 是可复用的流程资产</a:t>
            </a:r>
            <a:endParaRPr sz="1400" b="0" dirty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847088"/>
            <a:ext cx="8138160" cy="25082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核心差异</a:t>
            </a:r>
            <a:endParaRPr sz="14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304288"/>
            <a:ext cx="3931920" cy="1783080"/>
          </a:xfrm>
          <a:prstGeom prst="roundRect">
            <a:avLst>
              <a:gd name="adj" fmla="val 9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2376" y="2487168"/>
            <a:ext cx="3493008" cy="2600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dirty="0" err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Prompt</a:t>
            </a:r>
            <a:endParaRPr sz="1450" b="1" dirty="0" err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0664" y="2944368"/>
            <a:ext cx="777240" cy="50292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22376" y="3090672"/>
            <a:ext cx="3493008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dirty="0" err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一次性指令</a:t>
            </a:r>
            <a:endParaRPr sz="1200" b="1" dirty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5" y="3438144"/>
            <a:ext cx="3712465" cy="495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dirty="0" err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说完就结束、无沉淀
结果不确定，像口头吩咐</a:t>
            </a:r>
            <a:endParaRPr sz="1200" b="0" dirty="0" err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709160" y="2304288"/>
            <a:ext cx="3931920" cy="1783080"/>
          </a:xfrm>
          <a:prstGeom prst="roundRect">
            <a:avLst>
              <a:gd name="adj" fmla="val 9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928616" y="2487168"/>
            <a:ext cx="3493008" cy="26007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450" b="1" dirty="0" err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</a:t>
            </a:r>
            <a:endParaRPr sz="1450" b="1" dirty="0" err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46904" y="2944368"/>
            <a:ext cx="777240" cy="50292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28616" y="3090672"/>
            <a:ext cx="3493008" cy="22159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200" b="1" dirty="0" err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可复用流程资产</a:t>
            </a:r>
            <a:endParaRPr sz="1200" b="1" dirty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28616" y="3438144"/>
            <a:ext cx="3493008" cy="495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dirty="0" err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告诉 AI 这类事该怎么处理
下次说「帮我处理一下」即可</a:t>
            </a:r>
            <a:endParaRPr sz="1200" b="0" dirty="0" err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315968"/>
            <a:ext cx="7818120" cy="502920"/>
          </a:xfrm>
          <a:prstGeom prst="roundRect">
            <a:avLst>
              <a:gd name="adj" fmla="val 3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441239"/>
            <a:ext cx="7269480" cy="25237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dirty="0" err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Prompt 是一次性指令，Skill 是可复用的流程资产</a:t>
            </a:r>
            <a:endParaRPr sz="1400" b="1" dirty="0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21" name="Picture 20" descr="qianzai_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261104"/>
            <a:ext cx="621792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qwenwork_logo_c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38912"/>
            <a:ext cx="667512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在千问办公能力体系中的位置</a:t>
            </a:r>
            <a:endParaRPr sz="22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1207" y="1298448"/>
            <a:ext cx="960120" cy="54864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7" y="1444752"/>
            <a:ext cx="8046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l"/>
            <a:r>
              <a:rPr sz="12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自下而上分四层：工具 → API/MCP → 插件 → Skill</a:t>
            </a:r>
            <a:endParaRPr sz="12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1956816" cy="1874519"/>
          </a:xfrm>
          <a:prstGeom prst="roundRect">
            <a:avLst>
              <a:gd name="adj" fmla="val 9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1956816" cy="457200"/>
          </a:xfrm>
          <a:prstGeom prst="roundRect">
            <a:avLst>
              <a:gd name="adj" fmla="val 16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1956816" cy="2286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21408"/>
            <a:ext cx="1956816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2724912"/>
            <a:ext cx="195681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基于工具本身</a:t>
            </a:r>
            <a:endParaRPr sz="1500" b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177393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1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手机、电脑、纸笔</a:t>
            </a:r>
            <a:endParaRPr sz="11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679191" y="2103120"/>
            <a:ext cx="1956816" cy="1874519"/>
          </a:xfrm>
          <a:prstGeom prst="roundRect">
            <a:avLst>
              <a:gd name="adj" fmla="val 9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79191" y="2103120"/>
            <a:ext cx="1956816" cy="457200"/>
          </a:xfrm>
          <a:prstGeom prst="roundRect">
            <a:avLst>
              <a:gd name="adj" fmla="val 16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79191" y="2331720"/>
            <a:ext cx="1956816" cy="2286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9191" y="2121408"/>
            <a:ext cx="1956816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API / MCP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79191" y="2724912"/>
            <a:ext cx="195681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开放接口</a:t>
            </a:r>
            <a:endParaRPr sz="1500" b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70632" y="3218688"/>
            <a:ext cx="177393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1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MCP 封装多个 API</a:t>
            </a:r>
            <a:endParaRPr sz="11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55464" y="2103120"/>
            <a:ext cx="1956816" cy="1874519"/>
          </a:xfrm>
          <a:prstGeom prst="roundRect">
            <a:avLst>
              <a:gd name="adj" fmla="val 9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55464" y="2103120"/>
            <a:ext cx="1956816" cy="457200"/>
          </a:xfrm>
          <a:prstGeom prst="roundRect">
            <a:avLst>
              <a:gd name="adj" fmla="val 16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55464" y="2331720"/>
            <a:ext cx="1956816" cy="2286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5464" y="2121408"/>
            <a:ext cx="1956816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插件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55464" y="2724912"/>
            <a:ext cx="195681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场景化模块</a:t>
            </a:r>
            <a:endParaRPr sz="1500" b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46903" y="3218688"/>
            <a:ext cx="177393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1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天气+飞猪+钉钉</a:t>
            </a:r>
            <a:endParaRPr sz="11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031736" y="2103120"/>
            <a:ext cx="1956816" cy="1874519"/>
          </a:xfrm>
          <a:prstGeom prst="roundRect">
            <a:avLst>
              <a:gd name="adj" fmla="val 9000"/>
            </a:avLst>
          </a:prstGeom>
          <a:solidFill>
            <a:srgbClr val="F3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31736" y="2103120"/>
            <a:ext cx="1956816" cy="457200"/>
          </a:xfrm>
          <a:prstGeom prst="roundRect">
            <a:avLst>
              <a:gd name="adj" fmla="val 16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31736" y="2331720"/>
            <a:ext cx="1956816" cy="2286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31736" y="2121408"/>
            <a:ext cx="1956816" cy="4389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1736" y="2724912"/>
            <a:ext cx="1956816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500" b="1">
                <a:solidFill>
                  <a:srgbClr val="1C2A2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总指挥调度</a:t>
            </a:r>
            <a:endParaRPr sz="1500" b="1">
              <a:solidFill>
                <a:srgbClr val="1C2A22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23175" y="3218688"/>
            <a:ext cx="1773936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/>
            <a:r>
              <a:rPr sz="11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规定顺序和产出规范</a:t>
            </a:r>
            <a:endParaRPr sz="11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02920" y="4224528"/>
            <a:ext cx="7818120" cy="502920"/>
          </a:xfrm>
          <a:prstGeom prst="roundRect">
            <a:avLst>
              <a:gd name="adj" fmla="val 30000"/>
            </a:avLst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4224528"/>
            <a:ext cx="73152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noAutofit/>
          </a:bodyPr>
          <a:lstStyle/>
          <a:p>
            <a:pPr algn="l"/>
            <a:r>
              <a:rPr sz="1350" b="1">
                <a:solidFill>
                  <a:srgbClr val="1B7A4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工具是零件，Skill 把零件有序组装成一台机器</a:t>
            </a:r>
            <a:endParaRPr sz="1350" b="1">
              <a:solidFill>
                <a:srgbClr val="1B7A4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4" name="Picture 33" descr="qianzai_flat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4160520"/>
            <a:ext cx="59436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什么是专家套件？——Skill 之上的完整工作方案包</a:t>
            </a:r>
            <a:endParaRPr sz="21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1025" y="804672"/>
            <a:ext cx="914400" cy="50292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05256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专家套件 = 技能 + 数据 + 工作流 + 标准，把一个行业岗位的专业能力整体打包给 AI。</a:t>
            </a:r>
            <a:endParaRPr sz="12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4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07008"/>
            <a:ext cx="8138160" cy="365760"/>
          </a:xfrm>
          <a:prstGeom prst="roundRect">
            <a:avLst>
              <a:gd name="adj" fmla="val 28000"/>
            </a:avLst>
          </a:prstGeom>
          <a:solidFill>
            <a:srgbClr val="178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本质：不是「让 AI 连接工具」，而是让 AI 具备某个行业岗位的专业能力。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1719072"/>
            <a:ext cx="2505456" cy="1097280"/>
          </a:xfrm>
          <a:prstGeom prst="roundRect">
            <a:avLst>
              <a:gd name="adj" fmla="val 12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0584" rtlCol="0" anchor="ctr"/>
          <a:lstStyle/>
          <a:p>
            <a:pPr algn="l"/>
            <a:r>
              <a:rPr sz="135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连接器</a:t>
            </a:r>
            <a:endParaRPr sz="135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93A7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Connectors</a:t>
            </a:r>
            <a:endParaRPr sz="850" b="0">
              <a:solidFill>
                <a:srgbClr val="93A7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0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打通外部数据与系统的通道，为技能和套件供数据。</a:t>
            </a:r>
            <a:endParaRPr sz="100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063240" y="2171700"/>
            <a:ext cx="201168" cy="192024"/>
          </a:xfrm>
          <a:prstGeom prst="rightArrow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19272" y="1719072"/>
            <a:ext cx="2505456" cy="1097280"/>
          </a:xfrm>
          <a:prstGeom prst="roundRect">
            <a:avLst>
              <a:gd name="adj" fmla="val 12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0584" rtlCol="0" anchor="ctr"/>
          <a:lstStyle/>
          <a:p>
            <a:pPr algn="l"/>
            <a:r>
              <a:rPr sz="135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技能 Skill</a:t>
            </a:r>
            <a:endParaRPr sz="135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93A79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Skills</a:t>
            </a:r>
            <a:endParaRPr sz="850" b="0">
              <a:solidFill>
                <a:srgbClr val="93A79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0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独立的专业知识与方法论单元，解决「这件事怎么做」。</a:t>
            </a:r>
            <a:endParaRPr sz="100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5879592" y="2171700"/>
            <a:ext cx="201168" cy="192024"/>
          </a:xfrm>
          <a:prstGeom prst="rightArrow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35624" y="1719072"/>
            <a:ext cx="2505456" cy="1097280"/>
          </a:xfrm>
          <a:prstGeom prst="roundRect">
            <a:avLst>
              <a:gd name="adj" fmla="val 12000"/>
            </a:avLst>
          </a:prstGeom>
          <a:solidFill>
            <a:srgbClr val="EAF7F0"/>
          </a:solidFill>
          <a:ln w="19050">
            <a:solidFill>
              <a:srgbClr val="2FB8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00584" rtlCol="0" anchor="ctr"/>
          <a:lstStyle/>
          <a:p>
            <a:pPr algn="l"/>
            <a:r>
              <a:rPr sz="1350" b="1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专家套件</a:t>
            </a:r>
            <a:endParaRPr sz="1350" b="1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spcBef>
                <a:spcPts val="100"/>
              </a:spcBef>
            </a:pPr>
            <a:r>
              <a:rPr sz="850" b="0">
                <a:solidFill>
                  <a:srgbClr val="2FB8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Expert Kits</a:t>
            </a:r>
            <a:endParaRPr sz="850" b="0">
              <a:solidFill>
                <a:srgbClr val="2FB8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sz="100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完整工作方案包：技能 + 数据 + 工作流 + 标准。</a:t>
            </a:r>
            <a:endParaRPr sz="100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2980944"/>
            <a:ext cx="8138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一个套件里装了什么？</a:t>
            </a:r>
            <a:r>
              <a:rPr sz="10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　三部分打包，安装即用</a:t>
            </a:r>
            <a:endParaRPr sz="10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310128"/>
            <a:ext cx="2560320" cy="1399032"/>
          </a:xfrm>
          <a:prstGeom prst="roundRect">
            <a:avLst>
              <a:gd name="adj" fmla="val 12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l"/>
            <a:r>
              <a:rPr sz="1050" b="1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　</a:t>
            </a:r>
            <a:r>
              <a:rPr sz="13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快捷命令</a:t>
            </a:r>
            <a:endParaRPr sz="13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对话里输入「/」直接调用的预设命令。</a:t>
            </a:r>
            <a:endParaRPr sz="100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5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例：/审查合同、/NDA快筛</a:t>
            </a:r>
            <a:endParaRPr sz="95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4360" y="3268980"/>
            <a:ext cx="475488" cy="82296"/>
          </a:xfrm>
          <a:prstGeom prst="roundRect">
            <a:avLst>
              <a:gd name="adj" fmla="val 50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91839" y="3310128"/>
            <a:ext cx="2560320" cy="1399032"/>
          </a:xfrm>
          <a:prstGeom prst="roundRect">
            <a:avLst>
              <a:gd name="adj" fmla="val 12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l"/>
            <a:r>
              <a:rPr sz="1050" b="1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　</a:t>
            </a:r>
            <a:r>
              <a:rPr sz="13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数据连接</a:t>
            </a:r>
            <a:endParaRPr sz="13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预先配置好的外部工具连接，开启后直接访问关联数据。</a:t>
            </a:r>
            <a:endParaRPr sz="100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5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例：Notion 等外部工具与数据源</a:t>
            </a:r>
            <a:endParaRPr sz="95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383279" y="3268980"/>
            <a:ext cx="475488" cy="82296"/>
          </a:xfrm>
          <a:prstGeom prst="roundRect">
            <a:avLst>
              <a:gd name="adj" fmla="val 50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80759" y="3310128"/>
            <a:ext cx="2560320" cy="1399032"/>
          </a:xfrm>
          <a:prstGeom prst="roundRect">
            <a:avLst>
              <a:gd name="adj" fmla="val 12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tlCol="0" anchor="ctr"/>
          <a:lstStyle/>
          <a:p>
            <a:pPr algn="l"/>
            <a:r>
              <a:rPr sz="1050" b="1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　</a:t>
            </a:r>
            <a:r>
              <a:rPr sz="13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知识技能</a:t>
            </a:r>
            <a:endParaRPr sz="13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00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内置专业技能，定义该领域的知识、方法论与判断标准。</a:t>
            </a:r>
            <a:endParaRPr sz="100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0000"/>
              </a:lnSpc>
              <a:spcBef>
                <a:spcPts val="700"/>
              </a:spcBef>
            </a:pPr>
            <a:r>
              <a:rPr sz="95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例：中国诉讼助手内含 20 项技能</a:t>
            </a:r>
            <a:endParaRPr sz="95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72199" y="3268980"/>
            <a:ext cx="475488" cy="82296"/>
          </a:xfrm>
          <a:prstGeom prst="roundRect">
            <a:avLst>
              <a:gd name="adj" fmla="val 50000"/>
            </a:avLst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19456"/>
            <a:ext cx="67665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与专家套件，什么时候用哪个？</a:t>
            </a:r>
            <a:endParaRPr sz="21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1025" y="804672"/>
            <a:ext cx="914400" cy="50292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05256"/>
            <a:ext cx="81381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两者不是二选一：Skill 解决「这件事怎么做」，专家套件解决「全团队怎么统一地做」。</a:t>
            </a:r>
            <a:endParaRPr sz="125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4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1207008"/>
            <a:ext cx="1252728" cy="329184"/>
          </a:xfrm>
          <a:prstGeom prst="roundRect">
            <a:avLst>
              <a:gd name="adj" fmla="val 18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l"/>
            <a:r>
              <a:rPr sz="115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维度</a:t>
            </a:r>
            <a:endParaRPr sz="115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83080" y="1207008"/>
            <a:ext cx="3264408" cy="329184"/>
          </a:xfrm>
          <a:prstGeom prst="roundRect">
            <a:avLst>
              <a:gd name="adj" fmla="val 18000"/>
            </a:avLst>
          </a:prstGeom>
          <a:solidFill>
            <a:srgbClr val="F2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15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Skill 技能</a:t>
            </a:r>
            <a:endParaRPr sz="115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74920" y="1207008"/>
            <a:ext cx="3538728" cy="329184"/>
          </a:xfrm>
          <a:prstGeom prst="roundRect">
            <a:avLst>
              <a:gd name="adj" fmla="val 18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rIns="64008" rtlCol="0" anchor="ctr"/>
          <a:lstStyle/>
          <a:p>
            <a:pPr algn="ctr"/>
            <a:r>
              <a:rPr sz="1150" b="1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专家套件</a:t>
            </a:r>
            <a:endParaRPr sz="1150" b="1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25272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解决什么</a:t>
            </a:r>
            <a:endParaRPr sz="110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83080" y="1572768"/>
            <a:ext cx="326440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 怎么做某件事</a:t>
            </a:r>
            <a:endParaRPr sz="105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74920" y="1572768"/>
            <a:ext cx="3538728" cy="365760"/>
          </a:xfrm>
          <a:prstGeom prst="roundRect">
            <a:avLst>
              <a:gd name="adj" fmla="val 15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团队如何统一用同一套方案</a:t>
            </a:r>
            <a:endParaRPr sz="1050" b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1975104"/>
            <a:ext cx="125272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构成</a:t>
            </a:r>
            <a:endParaRPr sz="110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783080" y="1975104"/>
            <a:ext cx="326440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独立的方法论单元</a:t>
            </a:r>
            <a:endParaRPr sz="105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74920" y="1975104"/>
            <a:ext cx="3538728" cy="365760"/>
          </a:xfrm>
          <a:prstGeom prst="roundRect">
            <a:avLst>
              <a:gd name="adj" fmla="val 15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技能＋数据连接＋工作流＋标准</a:t>
            </a:r>
            <a:endParaRPr sz="1050" b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2377440"/>
            <a:ext cx="125272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创建者</a:t>
            </a:r>
            <a:endParaRPr sz="110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83080" y="2377440"/>
            <a:ext cx="326440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门槛较低，个人可沉淀</a:t>
            </a:r>
            <a:endParaRPr sz="105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74920" y="2377440"/>
            <a:ext cx="3538728" cy="365760"/>
          </a:xfrm>
          <a:prstGeom prst="roundRect">
            <a:avLst>
              <a:gd name="adj" fmla="val 15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需行业专家设计完整工作流</a:t>
            </a:r>
            <a:endParaRPr sz="1050" b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2779776"/>
            <a:ext cx="125272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使用者</a:t>
            </a:r>
            <a:endParaRPr sz="110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783080" y="2779776"/>
            <a:ext cx="326440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个人为主</a:t>
            </a:r>
            <a:endParaRPr sz="105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74920" y="2779776"/>
            <a:ext cx="3538728" cy="365760"/>
          </a:xfrm>
          <a:prstGeom prst="roundRect">
            <a:avLst>
              <a:gd name="adj" fmla="val 15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专家配置一次，成员一键安装</a:t>
            </a:r>
            <a:endParaRPr sz="1050" b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182112"/>
            <a:ext cx="125272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100" b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适用阶段</a:t>
            </a:r>
            <a:endParaRPr sz="1100" b="1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783080" y="3182112"/>
            <a:ext cx="3264408" cy="365760"/>
          </a:xfrm>
          <a:prstGeom prst="roundRect">
            <a:avLst>
              <a:gd name="adj" fmla="val 15000"/>
            </a:avLst>
          </a:prstGeom>
          <a:solidFill>
            <a:srgbClr val="FBFDFB"/>
          </a:solidFill>
          <a:ln w="12700">
            <a:solidFill>
              <a:srgbClr val="C6E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33414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探索验证阶段</a:t>
            </a:r>
            <a:endParaRPr sz="1050" b="0">
              <a:solidFill>
                <a:srgbClr val="33414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74920" y="3182112"/>
            <a:ext cx="3538728" cy="365760"/>
          </a:xfrm>
          <a:prstGeom prst="roundRect">
            <a:avLst>
              <a:gd name="adj" fmla="val 15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l"/>
            <a:r>
              <a:rPr sz="1050" b="0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分发推广阶段</a:t>
            </a:r>
            <a:endParaRPr sz="1050" b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3785615"/>
            <a:ext cx="8138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开箱即用的内置套件（持续扩充中）</a:t>
            </a:r>
            <a:r>
              <a:rPr sz="100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　覆盖法务 · 财税 · 投研 · 产研 · 营销 · 教研 · 电商等岗位</a:t>
            </a:r>
            <a:endParaRPr sz="100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企业法务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360627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合同管理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2218334" y="4096512"/>
            <a:ext cx="998524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中国诉讼助手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317443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企业财税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75150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投资银行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032857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权益研究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90564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财富管理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748271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产品管理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605979" y="4096512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产品设计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502920" y="4480560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市场营销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360627" y="4480560"/>
            <a:ext cx="998524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企业调研助手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2459736" y="4480560"/>
            <a:ext cx="998524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智启教研助手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558844" y="4480560"/>
            <a:ext cx="1040587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1688 买家助手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700016" y="4480560"/>
            <a:ext cx="998524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全栈开发专家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799124" y="4480560"/>
            <a:ext cx="998524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私募股权投资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898233" y="4480560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咨询交付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755940" y="4480560"/>
            <a:ext cx="757123" cy="301752"/>
          </a:xfrm>
          <a:prstGeom prst="roundRect">
            <a:avLst>
              <a:gd name="adj" fmla="val 50000"/>
            </a:avLst>
          </a:prstGeom>
          <a:solidFill>
            <a:srgbClr val="E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00" b="0">
                <a:solidFill>
                  <a:srgbClr val="178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科技服务</a:t>
            </a:r>
            <a:endParaRPr sz="1000" b="0">
              <a:solidFill>
                <a:srgbClr val="178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" name="Picture 2" descr="logo_c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274320"/>
            <a:ext cx="1325880" cy="3474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438912"/>
            <a:ext cx="67665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什么样的任务适合做成 Skill</a:t>
            </a:r>
            <a:endParaRPr sz="22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1298448"/>
            <a:ext cx="960120" cy="54864"/>
          </a:xfrm>
          <a:prstGeom prst="rect">
            <a:avLst/>
          </a:prstGeom>
          <a:solidFill>
            <a:srgbClr val="2FB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444752"/>
            <a:ext cx="80467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dirty="0" err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高频重复、对质量有稳定要求、多人共用的任务最适合</a:t>
            </a:r>
            <a:endParaRPr sz="1400" b="0" dirty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280160" y="2084831"/>
            <a:ext cx="1005840" cy="1005840"/>
          </a:xfrm>
          <a:prstGeom prst="ellipse">
            <a:avLst/>
          </a:prstGeom>
          <a:solidFill>
            <a:srgbClr val="1B7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084831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①</a:t>
            </a:r>
            <a:endParaRPr sz="3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39" y="321868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高频重复</a:t>
            </a:r>
            <a:endParaRPr sz="16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39" y="35661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今天用明天也用</a:t>
            </a:r>
            <a:endParaRPr sz="120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69080" y="2084831"/>
            <a:ext cx="1005840" cy="1005840"/>
          </a:xfrm>
          <a:prstGeom prst="ellipse">
            <a:avLst/>
          </a:prstGeom>
          <a:solidFill>
            <a:srgbClr val="14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2084831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②</a:t>
            </a:r>
            <a:endParaRPr sz="3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66160" y="321868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质量稳定</a:t>
            </a:r>
            <a:endParaRPr sz="16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这项工作里要用</a:t>
            </a:r>
            <a:endParaRPr sz="1200" b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58000" y="2084831"/>
            <a:ext cx="1005840" cy="1005840"/>
          </a:xfrm>
          <a:prstGeom prst="ellipse">
            <a:avLst/>
          </a:prstGeom>
          <a:solidFill>
            <a:srgbClr val="F28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084831"/>
            <a:ext cx="100584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③</a:t>
            </a:r>
            <a:endParaRPr sz="36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55080" y="3218688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多人共用</a:t>
            </a:r>
            <a:endParaRPr sz="16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5080" y="3566160"/>
            <a:ext cx="20116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dirty="0" err="1">
                <a:solidFill>
                  <a:srgbClr val="5B6B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需要规范和过程</a:t>
            </a:r>
            <a:endParaRPr sz="1200" b="0" dirty="0">
              <a:solidFill>
                <a:srgbClr val="5B6B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953512" y="2395728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FB8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400" b="1">
              <a:solidFill>
                <a:srgbClr val="2FB8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42432" y="2395728"/>
            <a:ext cx="457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>
                <a:solidFill>
                  <a:srgbClr val="2FB86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→</a:t>
            </a:r>
            <a:endParaRPr sz="2400" b="1">
              <a:solidFill>
                <a:srgbClr val="2FB86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335" y="4103370"/>
            <a:ext cx="442976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14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❌</a:t>
            </a:r>
            <a:r>
              <a:rPr lang="en-US" altLang="zh-CN" sz="14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 </a:t>
            </a:r>
            <a:r>
              <a:rPr sz="1400" b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不适合：一次性任务、强创意任务</a:t>
            </a:r>
            <a:endParaRPr sz="1400" b="1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2" descr="cove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173736"/>
            <a:ext cx="1453896" cy="3840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50976" y="3017520"/>
            <a:ext cx="7242048" cy="9243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/>
            <a:r>
              <a:rPr sz="3200" b="1" dirty="0" err="1">
                <a:solidFill>
                  <a:srgbClr val="142B3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掌握 Skill，驾驭千问办公</a:t>
            </a:r>
            <a:endParaRPr sz="3200" b="1" dirty="0">
              <a:solidFill>
                <a:srgbClr val="142B3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9.25,&quot;left&quot;:34.75,&quot;top&quot;:137.7,&quot;width&quot;:614.95}"/>
</p:tagLst>
</file>

<file path=ppt/tags/tag2.xml><?xml version="1.0" encoding="utf-8"?>
<p:tagLst xmlns:p="http://schemas.openxmlformats.org/presentationml/2006/main">
  <p:tag name="KSO_WM_DIAGRAM_VIRTUALLY_FRAME" val="{&quot;height&quot;:79.25,&quot;left&quot;:34.75,&quot;top&quot;:137.7,&quot;width&quot;:614.95}"/>
</p:tagLst>
</file>

<file path=ppt/tags/tag3.xml><?xml version="1.0" encoding="utf-8"?>
<p:tagLst xmlns:p="http://schemas.openxmlformats.org/presentationml/2006/main">
  <p:tag name="KSO_WM_DIAGRAM_VIRTUALLY_FRAME" val="{&quot;height&quot;:79.25,&quot;left&quot;:34.75,&quot;top&quot;:137.7,&quot;width&quot;:614.95}"/>
</p:tagLst>
</file>

<file path=ppt/tags/tag4.xml><?xml version="1.0" encoding="utf-8"?>
<p:tagLst xmlns:p="http://schemas.openxmlformats.org/presentationml/2006/main">
  <p:tag name="KSO_WM_DIAGRAM_VIRTUALLY_FRAME" val="{&quot;height&quot;:79.25,&quot;left&quot;:34.75,&quot;top&quot;:137.7,&quot;width&quot;:614.95}"/>
</p:tagLst>
</file>

<file path=ppt/tags/tag5.xml><?xml version="1.0" encoding="utf-8"?>
<p:tagLst xmlns:p="http://schemas.openxmlformats.org/presentationml/2006/main">
  <p:tag name="KSO_WM_DIAGRAM_VIRTUALLY_FRAME" val="{&quot;height&quot;:79.25,&quot;left&quot;:34.75,&quot;top&quot;:137.7,&quot;width&quot;:614.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WPS 文字</Application>
  <PresentationFormat>全屏显示(16:9)</PresentationFormat>
  <Paragraphs>255</Paragraphs>
  <Slides>11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</vt:lpstr>
      <vt:lpstr>PingFang SC</vt:lpstr>
      <vt:lpstr>阿里巴巴普惠体 3.0 105 Heavy</vt:lpstr>
      <vt:lpstr>微软雅黑</vt:lpstr>
      <vt:lpstr>宋体</vt:lpstr>
      <vt:lpstr>Arial Unicode MS</vt:lpstr>
      <vt:lpstr>Calibri</vt:lpstr>
      <vt:lpstr>Helvetica Neue</vt:lpstr>
      <vt:lpstr>汉仪书宋二KW</vt:lpstr>
      <vt:lpstr>PingFang SC Semibold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杨可欣</cp:lastModifiedBy>
  <cp:revision>54</cp:revision>
  <dcterms:created xsi:type="dcterms:W3CDTF">2026-08-19T09:35:03Z</dcterms:created>
  <dcterms:modified xsi:type="dcterms:W3CDTF">2026-08-19T09:35:03Z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EB43DE74A951E72D3778796A533A7A52_42</vt:lpwstr>
  </property>
  <property fmtid="{D5CDD505-2E9C-101B-9397-08002B2CF9AE}" pid="3" name="KSOProductBuildVer">
    <vt:lpwstr>2052-12.1.26046.26046</vt:lpwstr>
  </property>
</Properties>
</file>